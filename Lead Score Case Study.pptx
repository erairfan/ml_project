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38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23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48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16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69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63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729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72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6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60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9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BB71A-703C-4932-80E6-2D6816879A75}" type="datetimeFigureOut">
              <a:rPr lang="en-IN" smtClean="0"/>
              <a:t>16-06-2024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52F49-5A60-485D-B610-6840F9EF6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0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Lead Scoring Case Study</a:t>
            </a:r>
            <a:br>
              <a:rPr lang="en-IN" dirty="0"/>
            </a:br>
            <a:r>
              <a:rPr lang="en-IN" dirty="0"/>
              <a:t>using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SUBMITTED BY </a:t>
            </a:r>
            <a:r>
              <a:rPr lang="en-IN" dirty="0" smtClean="0"/>
              <a:t>:</a:t>
            </a:r>
          </a:p>
          <a:p>
            <a:pPr marL="457200" indent="-457200">
              <a:buAutoNum type="arabicPeriod"/>
            </a:pPr>
            <a:r>
              <a:rPr lang="en-US" dirty="0" err="1" smtClean="0"/>
              <a:t>Aniket</a:t>
            </a:r>
            <a:r>
              <a:rPr lang="en-US" dirty="0" smtClean="0"/>
              <a:t> </a:t>
            </a:r>
            <a:r>
              <a:rPr lang="en-US" dirty="0" err="1" smtClean="0"/>
              <a:t>Khodankar</a:t>
            </a:r>
            <a:endParaRPr lang="en-US" dirty="0" smtClean="0"/>
          </a:p>
          <a:p>
            <a:pPr marL="457200" indent="-457200">
              <a:buAutoNum type="arabicPeriod"/>
            </a:pPr>
            <a:r>
              <a:rPr lang="en-US" dirty="0" err="1" smtClean="0"/>
              <a:t>Arshiya</a:t>
            </a:r>
            <a:r>
              <a:rPr lang="en-US" dirty="0" smtClean="0"/>
              <a:t> Begum</a:t>
            </a:r>
          </a:p>
          <a:p>
            <a:pPr marL="457200" indent="-457200">
              <a:buAutoNum type="arabicPeriod"/>
            </a:pPr>
            <a:r>
              <a:rPr lang="en-US" dirty="0" err="1" smtClean="0"/>
              <a:t>Palash</a:t>
            </a:r>
            <a:r>
              <a:rPr lang="en-US" dirty="0" smtClean="0"/>
              <a:t> </a:t>
            </a:r>
            <a:r>
              <a:rPr lang="en-US" dirty="0" err="1" smtClean="0"/>
              <a:t>Wanwani</a:t>
            </a:r>
            <a:endParaRPr lang="en-US" dirty="0" smtClean="0"/>
          </a:p>
          <a:p>
            <a:pPr marL="457200" indent="-457200">
              <a:buAutoNum type="arabicPeriod"/>
            </a:pPr>
            <a:r>
              <a:rPr lang="en-US" dirty="0" err="1" smtClean="0"/>
              <a:t>Navneeth</a:t>
            </a:r>
            <a:r>
              <a:rPr lang="en-US" dirty="0" smtClean="0"/>
              <a:t> 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830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34428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67339"/>
            <a:ext cx="9144000" cy="3190461"/>
          </a:xfrm>
        </p:spPr>
        <p:txBody>
          <a:bodyPr>
            <a:normAutofit/>
          </a:bodyPr>
          <a:lstStyle/>
          <a:p>
            <a:r>
              <a:rPr lang="en-IN" dirty="0" smtClean="0"/>
              <a:t>Problem </a:t>
            </a:r>
            <a:r>
              <a:rPr lang="en-IN" dirty="0"/>
              <a:t>statement</a:t>
            </a:r>
          </a:p>
          <a:p>
            <a:r>
              <a:rPr lang="en-IN" dirty="0" smtClean="0"/>
              <a:t>Problem </a:t>
            </a:r>
            <a:r>
              <a:rPr lang="en-IN" dirty="0"/>
              <a:t>approach</a:t>
            </a:r>
          </a:p>
          <a:p>
            <a:r>
              <a:rPr lang="en-IN" dirty="0" smtClean="0"/>
              <a:t>EDA</a:t>
            </a:r>
            <a:endParaRPr lang="en-IN" dirty="0"/>
          </a:p>
          <a:p>
            <a:r>
              <a:rPr lang="en-IN" dirty="0" smtClean="0"/>
              <a:t>Correlations</a:t>
            </a:r>
            <a:endParaRPr lang="en-IN" dirty="0"/>
          </a:p>
          <a:p>
            <a:r>
              <a:rPr lang="en-IN" dirty="0" smtClean="0"/>
              <a:t>Model </a:t>
            </a:r>
            <a:r>
              <a:rPr lang="en-IN" dirty="0"/>
              <a:t>Evaluation</a:t>
            </a:r>
          </a:p>
          <a:p>
            <a:r>
              <a:rPr lang="en-IN" dirty="0" smtClean="0"/>
              <a:t>Observations</a:t>
            </a:r>
            <a:endParaRPr lang="en-IN" dirty="0"/>
          </a:p>
          <a:p>
            <a:r>
              <a:rPr lang="en-IN" dirty="0" smtClean="0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9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84733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07096"/>
            <a:ext cx="9144000" cy="315070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1. An </a:t>
            </a:r>
            <a:r>
              <a:rPr lang="en-US" dirty="0"/>
              <a:t>education company named X Education sells online courses to industry </a:t>
            </a:r>
            <a:r>
              <a:rPr lang="en-US" dirty="0" smtClean="0"/>
              <a:t>professionals. On </a:t>
            </a:r>
            <a:r>
              <a:rPr lang="en-US" dirty="0"/>
              <a:t>any given day, many </a:t>
            </a:r>
            <a:r>
              <a:rPr lang="en-US" dirty="0" smtClean="0"/>
              <a:t>professionals who </a:t>
            </a:r>
            <a:r>
              <a:rPr lang="en-US" dirty="0"/>
              <a:t>are interested in the courses land on their website </a:t>
            </a:r>
            <a:r>
              <a:rPr lang="en-US" dirty="0" smtClean="0"/>
              <a:t>and browse </a:t>
            </a:r>
            <a:r>
              <a:rPr lang="en-US" dirty="0"/>
              <a:t>for courses. They have process of form filling on their </a:t>
            </a:r>
            <a:r>
              <a:rPr lang="en-US" dirty="0" smtClean="0"/>
              <a:t>website after </a:t>
            </a:r>
            <a:r>
              <a:rPr lang="en-US" dirty="0"/>
              <a:t>which the </a:t>
            </a:r>
            <a:r>
              <a:rPr lang="en-US" dirty="0" smtClean="0"/>
              <a:t>company that </a:t>
            </a:r>
            <a:r>
              <a:rPr lang="en-US" dirty="0"/>
              <a:t>individual as a lead.</a:t>
            </a:r>
          </a:p>
          <a:p>
            <a:pPr algn="just"/>
            <a:r>
              <a:rPr lang="en-US" dirty="0" smtClean="0"/>
              <a:t>2. Once </a:t>
            </a:r>
            <a:r>
              <a:rPr lang="en-US" dirty="0"/>
              <a:t>these leads are acquired, employees from the sales team start making calls, writing </a:t>
            </a:r>
            <a:r>
              <a:rPr lang="en-US" dirty="0" smtClean="0"/>
              <a:t>emails, etc. Through </a:t>
            </a:r>
            <a:r>
              <a:rPr lang="en-US" dirty="0"/>
              <a:t>this process, some of the leads get converted while most do not.</a:t>
            </a:r>
          </a:p>
          <a:p>
            <a:pPr algn="just"/>
            <a:r>
              <a:rPr lang="en-US" dirty="0" smtClean="0"/>
              <a:t>3. </a:t>
            </a:r>
            <a:r>
              <a:rPr lang="en-US" dirty="0"/>
              <a:t>The typical lead conversion rate at X education is around 30%. Now, this means if, say, </a:t>
            </a:r>
            <a:r>
              <a:rPr lang="en-US" dirty="0" smtClean="0"/>
              <a:t>they acquire </a:t>
            </a:r>
            <a:r>
              <a:rPr lang="en-US" dirty="0"/>
              <a:t>100 leads in a day, only about 30 of them are converted. To make this process </a:t>
            </a:r>
            <a:r>
              <a:rPr lang="en-US" dirty="0" smtClean="0"/>
              <a:t>more efficient</a:t>
            </a:r>
            <a:r>
              <a:rPr lang="en-US" dirty="0"/>
              <a:t>, the company wishes to identify the most potential leads, also known as Hot Leads.</a:t>
            </a:r>
          </a:p>
          <a:p>
            <a:pPr algn="just"/>
            <a:r>
              <a:rPr lang="en-US" dirty="0"/>
              <a:t>4</a:t>
            </a:r>
            <a:r>
              <a:rPr lang="en-US" dirty="0" smtClean="0"/>
              <a:t>. If </a:t>
            </a:r>
            <a:r>
              <a:rPr lang="en-US" dirty="0"/>
              <a:t>they successfully identify this set of leads, the lead conversion rate should go up as the </a:t>
            </a:r>
            <a:r>
              <a:rPr lang="en-US" dirty="0" smtClean="0"/>
              <a:t>sales team </a:t>
            </a:r>
            <a:r>
              <a:rPr lang="en-US" dirty="0"/>
              <a:t>will now be focusing more on communicating with the potential leads rather than </a:t>
            </a:r>
            <a:r>
              <a:rPr lang="en-US" dirty="0" smtClean="0"/>
              <a:t>making </a:t>
            </a:r>
            <a:r>
              <a:rPr lang="en-IN" dirty="0" smtClean="0"/>
              <a:t>calls </a:t>
            </a:r>
            <a:r>
              <a:rPr lang="en-IN" dirty="0"/>
              <a:t>to everyone</a:t>
            </a:r>
          </a:p>
        </p:txBody>
      </p:sp>
    </p:spTree>
    <p:extLst>
      <p:ext uri="{BB962C8B-B14F-4D97-AF65-F5344CB8AC3E}">
        <p14:creationId xmlns:p14="http://schemas.microsoft.com/office/powerpoint/2010/main" val="3662345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85341"/>
          </a:xfrm>
        </p:spPr>
        <p:txBody>
          <a:bodyPr>
            <a:normAutofit fontScale="90000"/>
          </a:bodyPr>
          <a:lstStyle/>
          <a:p>
            <a:r>
              <a:rPr lang="en-IN" dirty="0"/>
              <a:t>Business Objective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07704"/>
            <a:ext cx="9144000" cy="3250096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1. </a:t>
            </a:r>
            <a:r>
              <a:rPr lang="en-US" dirty="0"/>
              <a:t>Lead X wants us to build a model to give every lead a lead score between 0 -100 </a:t>
            </a:r>
            <a:r>
              <a:rPr lang="en-US" dirty="0" smtClean="0"/>
              <a:t>. So </a:t>
            </a:r>
            <a:r>
              <a:rPr lang="en-US" dirty="0"/>
              <a:t>that they can identify the Hot leads and increase their conversion rate as well.</a:t>
            </a:r>
          </a:p>
          <a:p>
            <a:pPr algn="just"/>
            <a:r>
              <a:rPr lang="en-US" dirty="0" smtClean="0"/>
              <a:t>2. </a:t>
            </a:r>
            <a:r>
              <a:rPr lang="en-US" dirty="0"/>
              <a:t>The CEO want to achieve a lead conversion rate of 80%.</a:t>
            </a:r>
          </a:p>
          <a:p>
            <a:pPr algn="just"/>
            <a:r>
              <a:rPr lang="en-US" dirty="0" smtClean="0"/>
              <a:t>3. </a:t>
            </a:r>
            <a:r>
              <a:rPr lang="en-US" dirty="0"/>
              <a:t>They want the model to be able to handle future constraints as </a:t>
            </a:r>
            <a:r>
              <a:rPr lang="en-US" dirty="0" smtClean="0"/>
              <a:t>well like </a:t>
            </a:r>
            <a:r>
              <a:rPr lang="en-US" dirty="0"/>
              <a:t>Peak </a:t>
            </a:r>
            <a:r>
              <a:rPr lang="en-US" dirty="0" smtClean="0"/>
              <a:t>time actions </a:t>
            </a:r>
            <a:r>
              <a:rPr lang="en-US" dirty="0"/>
              <a:t>required, how to utilize full man power and </a:t>
            </a:r>
            <a:r>
              <a:rPr lang="en-US" dirty="0" smtClean="0"/>
              <a:t>after achieving </a:t>
            </a:r>
            <a:r>
              <a:rPr lang="en-US" dirty="0"/>
              <a:t>target </a:t>
            </a:r>
            <a:r>
              <a:rPr lang="en-US" dirty="0" smtClean="0"/>
              <a:t>what </a:t>
            </a:r>
            <a:r>
              <a:rPr lang="en-IN" dirty="0" smtClean="0"/>
              <a:t>should </a:t>
            </a:r>
            <a:r>
              <a:rPr lang="en-IN" dirty="0"/>
              <a:t>be the approaches.</a:t>
            </a:r>
          </a:p>
        </p:txBody>
      </p:sp>
    </p:spTree>
    <p:extLst>
      <p:ext uri="{BB962C8B-B14F-4D97-AF65-F5344CB8AC3E}">
        <p14:creationId xmlns:p14="http://schemas.microsoft.com/office/powerpoint/2010/main" val="1035700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3985591"/>
          </a:xfrm>
        </p:spPr>
        <p:txBody>
          <a:bodyPr>
            <a:noAutofit/>
          </a:bodyPr>
          <a:lstStyle/>
          <a:p>
            <a:r>
              <a:rPr lang="en-IN" sz="7200" dirty="0"/>
              <a:t>Problem</a:t>
            </a:r>
            <a:br>
              <a:rPr lang="en-IN" sz="7200" dirty="0"/>
            </a:br>
            <a:r>
              <a:rPr lang="en-IN" sz="7200" dirty="0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Importing </a:t>
            </a:r>
            <a:r>
              <a:rPr lang="en-US" dirty="0"/>
              <a:t>the data and inspecting </a:t>
            </a:r>
            <a:r>
              <a:rPr lang="en-US" dirty="0" smtClean="0"/>
              <a:t>the </a:t>
            </a:r>
            <a:r>
              <a:rPr lang="en-IN" dirty="0" smtClean="0"/>
              <a:t>data </a:t>
            </a:r>
            <a:r>
              <a:rPr lang="en-IN" dirty="0"/>
              <a:t>frame</a:t>
            </a:r>
          </a:p>
          <a:p>
            <a:r>
              <a:rPr lang="en-IN" dirty="0" smtClean="0"/>
              <a:t>Data </a:t>
            </a:r>
            <a:r>
              <a:rPr lang="en-IN" dirty="0"/>
              <a:t>preparation</a:t>
            </a:r>
          </a:p>
          <a:p>
            <a:r>
              <a:rPr lang="en-IN" dirty="0" smtClean="0"/>
              <a:t>EDA</a:t>
            </a:r>
            <a:endParaRPr lang="en-IN" dirty="0"/>
          </a:p>
          <a:p>
            <a:r>
              <a:rPr lang="en-IN" dirty="0" smtClean="0"/>
              <a:t>Dummy </a:t>
            </a:r>
            <a:r>
              <a:rPr lang="en-IN" dirty="0"/>
              <a:t>variable creation</a:t>
            </a:r>
          </a:p>
          <a:p>
            <a:r>
              <a:rPr lang="en-IN" dirty="0" smtClean="0"/>
              <a:t>Test-Train </a:t>
            </a:r>
            <a:r>
              <a:rPr lang="en-IN" dirty="0"/>
              <a:t>split</a:t>
            </a:r>
          </a:p>
          <a:p>
            <a:r>
              <a:rPr lang="en-IN" dirty="0" smtClean="0"/>
              <a:t>Feature </a:t>
            </a:r>
            <a:r>
              <a:rPr lang="en-IN" dirty="0"/>
              <a:t>scaling</a:t>
            </a:r>
          </a:p>
          <a:p>
            <a:r>
              <a:rPr lang="en-IN" dirty="0" smtClean="0"/>
              <a:t>Correlations</a:t>
            </a:r>
            <a:endParaRPr lang="en-IN" dirty="0"/>
          </a:p>
          <a:p>
            <a:r>
              <a:rPr lang="en-US" dirty="0" smtClean="0"/>
              <a:t>Model </a:t>
            </a:r>
            <a:r>
              <a:rPr lang="en-US" dirty="0"/>
              <a:t>Building (RFE </a:t>
            </a:r>
            <a:r>
              <a:rPr lang="en-US" dirty="0" err="1"/>
              <a:t>Rsquared</a:t>
            </a:r>
            <a:r>
              <a:rPr lang="en-US" dirty="0"/>
              <a:t> VIF and </a:t>
            </a:r>
            <a:r>
              <a:rPr lang="en-US" dirty="0" smtClean="0"/>
              <a:t>p-values</a:t>
            </a:r>
            <a:r>
              <a:rPr lang="en-US" dirty="0"/>
              <a:t>)</a:t>
            </a:r>
          </a:p>
          <a:p>
            <a:r>
              <a:rPr lang="en-IN" dirty="0" smtClean="0"/>
              <a:t>Model </a:t>
            </a:r>
            <a:r>
              <a:rPr lang="en-IN" dirty="0"/>
              <a:t>Evaluation</a:t>
            </a:r>
          </a:p>
          <a:p>
            <a:r>
              <a:rPr lang="en-US" dirty="0" smtClean="0"/>
              <a:t>Making </a:t>
            </a:r>
            <a:r>
              <a:rPr lang="en-US" dirty="0"/>
              <a:t>predictions on test set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259411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58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EDA – Data </a:t>
            </a:r>
            <a:r>
              <a:rPr lang="en-IN" dirty="0" smtClean="0"/>
              <a:t>Cleaning</a:t>
            </a:r>
            <a:br>
              <a:rPr lang="en-IN" dirty="0" smtClean="0"/>
            </a:br>
            <a:r>
              <a:rPr lang="en-US" sz="2700" dirty="0" smtClean="0"/>
              <a:t>There </a:t>
            </a:r>
            <a:r>
              <a:rPr lang="en-US" sz="2700" dirty="0"/>
              <a:t>are a few columns in which there is a level called 'Select' which is taking</a:t>
            </a:r>
            <a:br>
              <a:rPr lang="en-US" sz="2700" dirty="0"/>
            </a:br>
            <a:r>
              <a:rPr lang="en-IN" sz="2700" dirty="0"/>
              <a:t>care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0" y="2124844"/>
            <a:ext cx="9909312" cy="14532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9" y="3756990"/>
            <a:ext cx="10684565" cy="257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03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Specialization</a:t>
            </a:r>
            <a:br>
              <a:rPr lang="en-IN" dirty="0" smtClean="0"/>
            </a:br>
            <a:r>
              <a:rPr lang="en-US" sz="2700" dirty="0"/>
              <a:t>Leads from HR, Finance &amp; Marketing management specializations are high</a:t>
            </a:r>
            <a:br>
              <a:rPr lang="en-US" sz="2700" dirty="0"/>
            </a:br>
            <a:r>
              <a:rPr lang="en-IN" sz="2700" dirty="0"/>
              <a:t>probability to convert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04" y="1880400"/>
            <a:ext cx="10356573" cy="424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7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Lead Source &amp; Lead </a:t>
            </a:r>
            <a:r>
              <a:rPr lang="en-IN" dirty="0" smtClean="0"/>
              <a:t>origin</a:t>
            </a:r>
            <a:br>
              <a:rPr lang="en-IN" dirty="0" smtClean="0"/>
            </a:br>
            <a:r>
              <a:rPr lang="en-US" sz="2700" dirty="0"/>
              <a:t>In lead source the leads through google &amp; direct traffic high probability to</a:t>
            </a:r>
            <a:br>
              <a:rPr lang="en-US" sz="2700" dirty="0"/>
            </a:br>
            <a:r>
              <a:rPr lang="en-IN" sz="2700" dirty="0"/>
              <a:t>convert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833626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IDFont+F6"/>
              </a:rPr>
              <a:t>Whereas in Lead origin most number of leads are landing on submission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45896"/>
            <a:ext cx="10439400" cy="414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00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Last lead </a:t>
            </a:r>
            <a:r>
              <a:rPr lang="en-IN" dirty="0" smtClean="0"/>
              <a:t>Activity</a:t>
            </a:r>
            <a:br>
              <a:rPr lang="en-IN" dirty="0" smtClean="0"/>
            </a:br>
            <a:r>
              <a:rPr lang="en-US" sz="3100" dirty="0"/>
              <a:t>Leads which are opening email have high probability to convert, Same as</a:t>
            </a:r>
            <a:br>
              <a:rPr lang="en-US" sz="3100" dirty="0"/>
            </a:br>
            <a:r>
              <a:rPr lang="en-US" sz="3100" dirty="0"/>
              <a:t>Sending SMS will also benefit.</a:t>
            </a:r>
            <a:endParaRPr lang="en-IN" sz="3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4" y="2095000"/>
            <a:ext cx="10369826" cy="444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60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Last What is Your </a:t>
            </a:r>
            <a:r>
              <a:rPr lang="en-US" dirty="0" smtClean="0"/>
              <a:t>Occupation</a:t>
            </a:r>
            <a:br>
              <a:rPr lang="en-US" dirty="0" smtClean="0"/>
            </a:br>
            <a:r>
              <a:rPr lang="en-US" sz="2700" dirty="0"/>
              <a:t>Leads which are Unemployed are more interested to join the course than others.</a:t>
            </a:r>
            <a:endParaRPr lang="en-IN" sz="27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17" y="2190699"/>
            <a:ext cx="10515600" cy="442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Correlation</a:t>
            </a:r>
            <a:br>
              <a:rPr lang="en-IN" dirty="0" smtClean="0"/>
            </a:br>
            <a:r>
              <a:rPr lang="en-US" sz="2400" dirty="0"/>
              <a:t>There is no correlation between the variables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31" y="1709300"/>
            <a:ext cx="10674626" cy="496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69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</a:t>
            </a:r>
            <a:r>
              <a:rPr lang="en-IN" dirty="0" smtClean="0"/>
              <a:t>Evaluation</a:t>
            </a:r>
            <a:br>
              <a:rPr lang="en-IN" dirty="0" smtClean="0"/>
            </a:br>
            <a:r>
              <a:rPr lang="en-IN" sz="2800" dirty="0"/>
              <a:t>ROC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3670" y="1556623"/>
            <a:ext cx="102174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IDFont+F1"/>
              </a:rPr>
              <a:t>0.42 is the tradeoff between Precision and Recall -</a:t>
            </a:r>
          </a:p>
          <a:p>
            <a:r>
              <a:rPr lang="en-US" dirty="0">
                <a:latin typeface="CIDFont+F6"/>
              </a:rPr>
              <a:t>Thus we can safely choose to consider any Prospect Lead with Conversion </a:t>
            </a:r>
            <a:r>
              <a:rPr lang="en-US" dirty="0">
                <a:latin typeface="CIDFont+F1"/>
              </a:rPr>
              <a:t>Probability higher than</a:t>
            </a:r>
          </a:p>
          <a:p>
            <a:r>
              <a:rPr lang="en-US" dirty="0">
                <a:latin typeface="CIDFont+F1"/>
              </a:rPr>
              <a:t>42 % to be a hot Lead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70" y="3110949"/>
            <a:ext cx="5062330" cy="34190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226" y="3200400"/>
            <a:ext cx="5022574" cy="332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2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Train Data:</a:t>
            </a:r>
          </a:p>
          <a:p>
            <a:r>
              <a:rPr lang="en-IN" dirty="0"/>
              <a:t>Accuracy : 80%</a:t>
            </a:r>
          </a:p>
          <a:p>
            <a:r>
              <a:rPr lang="en-IN" dirty="0"/>
              <a:t>Sensitivity : 77%</a:t>
            </a:r>
          </a:p>
          <a:p>
            <a:r>
              <a:rPr lang="en-IN" dirty="0"/>
              <a:t>Specificity : 80%</a:t>
            </a:r>
          </a:p>
          <a:p>
            <a:r>
              <a:rPr lang="en-IN" dirty="0"/>
              <a:t>Test Data:</a:t>
            </a:r>
          </a:p>
          <a:p>
            <a:r>
              <a:rPr lang="en-IN" dirty="0"/>
              <a:t>Accuracy : 80%</a:t>
            </a:r>
          </a:p>
          <a:p>
            <a:r>
              <a:rPr lang="en-IN" dirty="0"/>
              <a:t>Sensitivity : 77%</a:t>
            </a:r>
          </a:p>
          <a:p>
            <a:r>
              <a:rPr lang="en-IN" dirty="0"/>
              <a:t>Specificity : 80%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Final Features list:</a:t>
            </a:r>
          </a:p>
          <a:p>
            <a:r>
              <a:rPr lang="en-IN" dirty="0" smtClean="0"/>
              <a:t>Lead </a:t>
            </a:r>
            <a:r>
              <a:rPr lang="en-IN" dirty="0" err="1"/>
              <a:t>Source_Olark</a:t>
            </a:r>
            <a:r>
              <a:rPr lang="en-IN" dirty="0"/>
              <a:t> Chat</a:t>
            </a:r>
          </a:p>
          <a:p>
            <a:r>
              <a:rPr lang="en-IN" dirty="0" err="1" smtClean="0"/>
              <a:t>Specialization_Others</a:t>
            </a:r>
            <a:endParaRPr lang="en-IN" dirty="0"/>
          </a:p>
          <a:p>
            <a:r>
              <a:rPr lang="en-IN" dirty="0" smtClean="0"/>
              <a:t>Lead </a:t>
            </a:r>
            <a:r>
              <a:rPr lang="en-IN" dirty="0" err="1"/>
              <a:t>Origin_Lead</a:t>
            </a:r>
            <a:r>
              <a:rPr lang="en-IN" dirty="0"/>
              <a:t> Add Form</a:t>
            </a:r>
          </a:p>
          <a:p>
            <a:r>
              <a:rPr lang="en-IN" dirty="0" smtClean="0"/>
              <a:t>Lead </a:t>
            </a:r>
            <a:r>
              <a:rPr lang="en-IN" dirty="0" err="1"/>
              <a:t>Source_Welingak</a:t>
            </a:r>
            <a:r>
              <a:rPr lang="en-IN" dirty="0"/>
              <a:t> Website</a:t>
            </a:r>
          </a:p>
          <a:p>
            <a:r>
              <a:rPr lang="en-US" dirty="0" smtClean="0"/>
              <a:t>Total </a:t>
            </a:r>
            <a:r>
              <a:rPr lang="en-US" dirty="0"/>
              <a:t>Time Spent on Website</a:t>
            </a:r>
          </a:p>
          <a:p>
            <a:r>
              <a:rPr lang="en-IN" dirty="0" smtClean="0"/>
              <a:t>Lead </a:t>
            </a:r>
            <a:r>
              <a:rPr lang="en-IN" dirty="0" err="1"/>
              <a:t>Origin_Landing</a:t>
            </a:r>
            <a:r>
              <a:rPr lang="en-IN" dirty="0"/>
              <a:t> Page Submission</a:t>
            </a:r>
          </a:p>
          <a:p>
            <a:r>
              <a:rPr lang="en-US" dirty="0" smtClean="0"/>
              <a:t>What </a:t>
            </a:r>
            <a:r>
              <a:rPr lang="en-US" dirty="0"/>
              <a:t>is your current </a:t>
            </a:r>
            <a:r>
              <a:rPr lang="en-US" dirty="0" err="1"/>
              <a:t>occupation_Working</a:t>
            </a:r>
            <a:r>
              <a:rPr lang="en-US" dirty="0"/>
              <a:t> </a:t>
            </a:r>
            <a:r>
              <a:rPr lang="en-US" dirty="0" smtClean="0"/>
              <a:t>Professionals</a:t>
            </a:r>
          </a:p>
          <a:p>
            <a:r>
              <a:rPr lang="en-IN" dirty="0" smtClean="0"/>
              <a:t>Do </a:t>
            </a:r>
            <a:r>
              <a:rPr lang="en-IN" dirty="0"/>
              <a:t>Not Email</a:t>
            </a:r>
          </a:p>
        </p:txBody>
      </p:sp>
    </p:spTree>
    <p:extLst>
      <p:ext uri="{BB962C8B-B14F-4D97-AF65-F5344CB8AC3E}">
        <p14:creationId xmlns:p14="http://schemas.microsoft.com/office/powerpoint/2010/main" val="64472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3852" y="1305342"/>
            <a:ext cx="109032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404040"/>
                </a:solidFill>
                <a:latin typeface="CIDFont+F6"/>
              </a:rPr>
              <a:t>We </a:t>
            </a:r>
            <a:r>
              <a:rPr lang="en-US" dirty="0">
                <a:solidFill>
                  <a:srgbClr val="404040"/>
                </a:solidFill>
                <a:latin typeface="CIDFont+F6"/>
              </a:rPr>
              <a:t>see that the conversion rate is 30-35% (close to average) for API and </a:t>
            </a:r>
            <a:r>
              <a:rPr lang="en-US" dirty="0" smtClean="0">
                <a:solidFill>
                  <a:srgbClr val="404040"/>
                </a:solidFill>
                <a:latin typeface="CIDFont+F6"/>
              </a:rPr>
              <a:t>Landing page </a:t>
            </a:r>
            <a:r>
              <a:rPr lang="en-US" dirty="0">
                <a:solidFill>
                  <a:srgbClr val="404040"/>
                </a:solidFill>
                <a:latin typeface="CIDFont+F6"/>
              </a:rPr>
              <a:t>submission. But very low for Lead Add form and Lead import. </a:t>
            </a:r>
            <a:r>
              <a:rPr lang="en-US" dirty="0" smtClean="0">
                <a:solidFill>
                  <a:srgbClr val="404040"/>
                </a:solidFill>
                <a:latin typeface="CIDFont+F6"/>
              </a:rPr>
              <a:t>Therefore we </a:t>
            </a:r>
            <a:r>
              <a:rPr lang="en-US" dirty="0">
                <a:solidFill>
                  <a:srgbClr val="404040"/>
                </a:solidFill>
                <a:latin typeface="CIDFont+F6"/>
              </a:rPr>
              <a:t>can intervene that we need to focus more on the leads originated from </a:t>
            </a:r>
            <a:r>
              <a:rPr lang="en-US" dirty="0" smtClean="0">
                <a:solidFill>
                  <a:srgbClr val="404040"/>
                </a:solidFill>
                <a:latin typeface="CIDFont+F6"/>
              </a:rPr>
              <a:t>API </a:t>
            </a:r>
            <a:r>
              <a:rPr lang="en-IN" dirty="0" smtClean="0">
                <a:solidFill>
                  <a:srgbClr val="404040"/>
                </a:solidFill>
                <a:latin typeface="CIDFont+F6"/>
              </a:rPr>
              <a:t>and </a:t>
            </a:r>
            <a:r>
              <a:rPr lang="en-IN" dirty="0">
                <a:solidFill>
                  <a:srgbClr val="404040"/>
                </a:solidFill>
                <a:latin typeface="CIDFont+F6"/>
              </a:rPr>
              <a:t>Landing page submission.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404040"/>
                </a:solidFill>
                <a:latin typeface="CIDFont+F6"/>
              </a:rPr>
              <a:t>We </a:t>
            </a:r>
            <a:r>
              <a:rPr lang="en-US" dirty="0">
                <a:solidFill>
                  <a:srgbClr val="404040"/>
                </a:solidFill>
                <a:latin typeface="CIDFont+F6"/>
              </a:rPr>
              <a:t>see max number of leads are generated by google / direct traffic. </a:t>
            </a:r>
            <a:r>
              <a:rPr lang="en-US" dirty="0" smtClean="0">
                <a:solidFill>
                  <a:srgbClr val="404040"/>
                </a:solidFill>
                <a:latin typeface="CIDFont+F6"/>
              </a:rPr>
              <a:t>Max conversion </a:t>
            </a:r>
            <a:r>
              <a:rPr lang="en-US" dirty="0">
                <a:solidFill>
                  <a:srgbClr val="404040"/>
                </a:solidFill>
                <a:latin typeface="CIDFont+F6"/>
              </a:rPr>
              <a:t>ratio is by reference and </a:t>
            </a:r>
            <a:r>
              <a:rPr lang="en-US" dirty="0" err="1">
                <a:solidFill>
                  <a:srgbClr val="404040"/>
                </a:solidFill>
                <a:latin typeface="CIDFont+F6"/>
              </a:rPr>
              <a:t>welingak</a:t>
            </a:r>
            <a:r>
              <a:rPr lang="en-US" dirty="0">
                <a:solidFill>
                  <a:srgbClr val="404040"/>
                </a:solidFill>
                <a:latin typeface="CIDFont+F6"/>
              </a:rPr>
              <a:t> website.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404040"/>
                </a:solidFill>
                <a:latin typeface="CIDFont+F6"/>
              </a:rPr>
              <a:t>Leads </a:t>
            </a:r>
            <a:r>
              <a:rPr lang="en-US" dirty="0">
                <a:solidFill>
                  <a:srgbClr val="404040"/>
                </a:solidFill>
                <a:latin typeface="CIDFont+F6"/>
              </a:rPr>
              <a:t>who spent more time on website, more likely to convert.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404040"/>
                </a:solidFill>
                <a:latin typeface="CIDFont+F6"/>
              </a:rPr>
              <a:t>Most </a:t>
            </a:r>
            <a:r>
              <a:rPr lang="en-US" dirty="0">
                <a:solidFill>
                  <a:srgbClr val="404040"/>
                </a:solidFill>
                <a:latin typeface="CIDFont+F6"/>
              </a:rPr>
              <a:t>common last activity is email opened. highest rate = SMS Sent. Max </a:t>
            </a:r>
            <a:r>
              <a:rPr lang="en-US" dirty="0" smtClean="0">
                <a:solidFill>
                  <a:srgbClr val="404040"/>
                </a:solidFill>
                <a:latin typeface="CIDFont+F6"/>
              </a:rPr>
              <a:t>are unemployed</a:t>
            </a:r>
            <a:r>
              <a:rPr lang="en-US" dirty="0">
                <a:solidFill>
                  <a:srgbClr val="404040"/>
                </a:solidFill>
                <a:latin typeface="CIDFont+F6"/>
              </a:rPr>
              <a:t>. Max conversion with working professional.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824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591</Words>
  <Application>Microsoft Office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CIDFont+F1</vt:lpstr>
      <vt:lpstr>CIDFont+F6</vt:lpstr>
      <vt:lpstr>Office Theme</vt:lpstr>
      <vt:lpstr>Lead Scoring Case Study using logistic regression</vt:lpstr>
      <vt:lpstr>Contents</vt:lpstr>
      <vt:lpstr>Problem Statement</vt:lpstr>
      <vt:lpstr>Business Objective</vt:lpstr>
      <vt:lpstr>Problem Approach</vt:lpstr>
      <vt:lpstr>EDA – Data Cleaning There are a few columns in which there is a level called 'Select' which is taking care</vt:lpstr>
      <vt:lpstr>Specialization Leads from HR, Finance &amp; Marketing management specializations are high probability to convert</vt:lpstr>
      <vt:lpstr>Lead Source &amp; Lead origin In lead source the leads through google &amp; direct traffic high probability to convert</vt:lpstr>
      <vt:lpstr>Last lead Activity Leads which are opening email have high probability to convert, Same as Sending SMS will also benefit.</vt:lpstr>
      <vt:lpstr>Last What is Your Occupation Leads which are Unemployed are more interested to join the course than others.</vt:lpstr>
      <vt:lpstr>Correlation There is no correlation between the variables</vt:lpstr>
      <vt:lpstr>Model Evaluation ROC curve</vt:lpstr>
      <vt:lpstr>Observations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Scoring Case Study using logistic regression</dc:title>
  <dc:creator>Admin</dc:creator>
  <cp:lastModifiedBy>Admin</cp:lastModifiedBy>
  <cp:revision>4</cp:revision>
  <dcterms:created xsi:type="dcterms:W3CDTF">2024-06-16T04:31:54Z</dcterms:created>
  <dcterms:modified xsi:type="dcterms:W3CDTF">2024-06-16T05:04:54Z</dcterms:modified>
</cp:coreProperties>
</file>